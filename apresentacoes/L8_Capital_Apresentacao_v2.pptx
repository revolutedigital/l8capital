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9116568" y="0"/>
            <a:ext cx="27432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9144" cy="2286000"/>
          </a:xfrm>
          <a:prstGeom prst="rect">
            <a:avLst/>
          </a:prstGeom>
          <a:solidFill>
            <a:srgbClr val="3A3A36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371600"/>
            <a:ext cx="9144" cy="2286000"/>
          </a:xfrm>
          <a:prstGeom prst="rect">
            <a:avLst/>
          </a:prstGeom>
          <a:solidFill>
            <a:srgbClr val="3A3A3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9144" cy="2286000"/>
          </a:xfrm>
          <a:prstGeom prst="rect">
            <a:avLst/>
          </a:prstGeom>
          <a:solidFill>
            <a:srgbClr val="3A3A36"/>
          </a:solidFill>
          <a:ln/>
        </p:spPr>
      </p:sp>
      <p:pic>
        <p:nvPicPr>
          <p:cNvPr id="7" name="Image 0" descr="C:\Users\David Sansilva\Documents\Servidor Sites\l8capital\public\images\logos\l8-logo_transp_bran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1371600"/>
            <a:ext cx="3657600" cy="137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26080" y="3017520"/>
            <a:ext cx="3291840" cy="137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Sua imobiliária mais forte.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200400" y="3931920"/>
            <a:ext cx="2743200" cy="4114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9677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Apresentação Institucional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0" y="4709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Janeiro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828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Nossa História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origem da L8 Capital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7680960" cy="4572"/>
          </a:xfrm>
          <a:prstGeom prst="rect">
            <a:avLst/>
          </a:prstGeom>
          <a:solidFill>
            <a:srgbClr val="D4D4C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solidFill>
            <a:srgbClr val="FAFAF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463040"/>
            <a:ext cx="54864" cy="914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5544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"Em 24 anos no mercado imobiliário, vimos imobiliárias fecharem não por falta de clientes, mas por falta de estrutura."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0" y="3063240"/>
            <a:ext cx="5120640" cy="18288"/>
          </a:xfrm>
          <a:prstGeom prst="rect">
            <a:avLst/>
          </a:prstGeom>
          <a:solidFill>
            <a:srgbClr val="E5CD8A"/>
          </a:solidFill>
          <a:ln/>
        </p:spPr>
      </p:sp>
      <p:sp>
        <p:nvSpPr>
          <p:cNvPr id="13" name="Shape 11"/>
          <p:cNvSpPr/>
          <p:nvPr/>
        </p:nvSpPr>
        <p:spPr>
          <a:xfrm>
            <a:off x="1920240" y="292608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383280"/>
            <a:ext cx="2377440" cy="1645920"/>
          </a:xfrm>
          <a:prstGeom prst="rect">
            <a:avLst/>
          </a:prstGeom>
          <a:solidFill>
            <a:srgbClr val="FAFAF8"/>
          </a:solidFill>
          <a:ln w="12700">
            <a:solidFill>
              <a:srgbClr val="D4D4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2000-2020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Anos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4069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experiência no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mercado imobiliário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3383280"/>
            <a:ext cx="2377440" cy="1645920"/>
          </a:xfrm>
          <a:prstGeom prst="rect">
            <a:avLst/>
          </a:prstGeom>
          <a:solidFill>
            <a:srgbClr val="FAFAF8"/>
          </a:solidFill>
          <a:ln w="12700">
            <a:solidFill>
              <a:srgbClr val="D4D4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Identificação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4069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Imobiliárias precisam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mais estrutura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406640" y="2926080"/>
            <a:ext cx="320040" cy="320040"/>
          </a:xfrm>
          <a:prstGeom prst="ellipse">
            <a:avLst/>
          </a:prstGeom>
          <a:solidFill>
            <a:srgbClr val="C9A227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383280"/>
            <a:ext cx="2377440" cy="1645920"/>
          </a:xfrm>
          <a:prstGeom prst="rect">
            <a:avLst/>
          </a:prstGeom>
          <a:solidFill>
            <a:srgbClr val="C9A227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Nasce a L8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4069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0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Fortalecendo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7F0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imobiliárias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828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Nosso Propósito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Golden Circle da L8 Capital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7680960" cy="4572"/>
          </a:xfrm>
          <a:prstGeom prst="rect">
            <a:avLst/>
          </a:prstGeom>
          <a:solidFill>
            <a:srgbClr val="D4D4C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280160"/>
            <a:ext cx="2926080" cy="2926080"/>
          </a:xfrm>
          <a:prstGeom prst="ellipse">
            <a:avLst/>
          </a:prstGeom>
          <a:solidFill>
            <a:srgbClr val="F5F5F3"/>
          </a:solidFill>
          <a:ln w="25400">
            <a:solidFill>
              <a:srgbClr val="D4D4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1783080"/>
            <a:ext cx="1920240" cy="1920240"/>
          </a:xfrm>
          <a:prstGeom prst="ellipse">
            <a:avLst/>
          </a:prstGeom>
          <a:solidFill>
            <a:srgbClr val="0A0A0A"/>
          </a:solidFill>
          <a:ln w="25400">
            <a:solidFill>
              <a:srgbClr val="2D2D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2240280"/>
            <a:ext cx="1005840" cy="1005840"/>
          </a:xfrm>
          <a:prstGeom prst="ellipse">
            <a:avLst/>
          </a:prstGeom>
          <a:solidFill>
            <a:srgbClr val="C9A227"/>
          </a:solidFill>
          <a:ln w="25400">
            <a:solidFill>
              <a:srgbClr val="B89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2606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QUÊ?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00200" y="3337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977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QUÊ?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554480"/>
            <a:ext cx="3840480" cy="914400"/>
          </a:xfrm>
          <a:prstGeom prst="rect">
            <a:avLst/>
          </a:prstGeom>
          <a:solidFill>
            <a:srgbClr val="FBF8F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554480"/>
            <a:ext cx="54864" cy="914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6276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QUÊ?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1874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Acreditamos que toda imobiliária merece estrutura de grande empresa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606040"/>
            <a:ext cx="3840480" cy="914400"/>
          </a:xfrm>
          <a:prstGeom prst="rect">
            <a:avLst/>
          </a:prstGeom>
          <a:solidFill>
            <a:srgbClr val="FAFAF8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606040"/>
            <a:ext cx="54864" cy="9144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6791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926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tecnologia proprietária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custos ocultos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Parceria real, não fornecimento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65760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C5C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657600"/>
            <a:ext cx="54864" cy="914400"/>
          </a:xfrm>
          <a:prstGeom prst="rect">
            <a:avLst/>
          </a:prstGeom>
          <a:solidFill>
            <a:srgbClr val="5C5C56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7307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QUÊ?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3977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Seguros, financeiro e capacitação para fortalecer sua imobiliária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828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Somos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Números que comprovam nossa solidez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7680960" cy="4572"/>
          </a:xfrm>
          <a:prstGeom prst="rect">
            <a:avLst/>
          </a:prstGeom>
          <a:solidFill>
            <a:srgbClr val="4A4A4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41832" y="1581912"/>
            <a:ext cx="2377440" cy="21945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554480"/>
            <a:ext cx="2377440" cy="2194560"/>
          </a:xfrm>
          <a:prstGeom prst="rect">
            <a:avLst/>
          </a:prstGeom>
          <a:solidFill>
            <a:srgbClr val="1A1A1A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554480"/>
            <a:ext cx="73152" cy="21945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737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1440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8803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experiência no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mercado imobiliário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02152" y="1581912"/>
            <a:ext cx="2377440" cy="21945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554480"/>
            <a:ext cx="2377440" cy="2194560"/>
          </a:xfrm>
          <a:prstGeom prst="rect">
            <a:avLst/>
          </a:prstGeom>
          <a:solidFill>
            <a:srgbClr val="C9A227"/>
          </a:solidFill>
          <a:ln w="25400">
            <a:solidFill>
              <a:srgbClr val="B892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554480"/>
            <a:ext cx="73152" cy="21945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1737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347472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11880" y="28803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proprietária desenvolvida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internamente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62472" y="1581912"/>
            <a:ext cx="2377440" cy="21945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554480"/>
            <a:ext cx="2377440" cy="2194560"/>
          </a:xfrm>
          <a:prstGeom prst="rect">
            <a:avLst/>
          </a:prstGeom>
          <a:solidFill>
            <a:srgbClr val="1A1A1A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1554480"/>
            <a:ext cx="73152" cy="21945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1737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R$ 2.050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03504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72200" y="28803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média mensal por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imobiliária parceira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400+ imobiliárias parceiras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Sem fidelidade forçada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 Modelo de parceria real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828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Problema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dores que imobiliárias enfrentam diariamente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7680960" cy="4572"/>
          </a:xfrm>
          <a:prstGeom prst="rect">
            <a:avLst/>
          </a:prstGeom>
          <a:solidFill>
            <a:srgbClr val="D4D4C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508760"/>
            <a:ext cx="3566160" cy="91440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1645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"Perco tempo demais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 operacional"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3566160" cy="91440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1645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"Não consigo me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diferenciar da concorrência"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560320"/>
            <a:ext cx="3566160" cy="91440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2697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"Meus custos fixos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são muito altos"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3566160" cy="91440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94960" y="2697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"Faltam ferramentas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profissionais"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 DE IMPACTO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886200"/>
          <a:ext cx="7315200" cy="9144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SINTOMA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CAUSA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Operacional excessivo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Falta de automação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677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Menos tempo para vender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Custos elevados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Fornecedores caros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677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Margem reduzida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 diferenciação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Ferramentas genéricas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677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Perda para concorrência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828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Proposta de Valor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3 pilares para fortalecer sua imobiliária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7680960" cy="4572"/>
          </a:xfrm>
          <a:prstGeom prst="rect">
            <a:avLst/>
          </a:prstGeom>
          <a:solidFill>
            <a:srgbClr val="D4D4C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508760"/>
            <a:ext cx="2377440" cy="2286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600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AUMENTAR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743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Novos produtos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3063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Comissões maiores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383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Diversificação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566160" y="1508760"/>
            <a:ext cx="2377440" cy="2286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66160" y="1600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56616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REDUZIR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2743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Boletos a R$ 1,90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3063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Sem mensalidades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9040" y="3383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Economia real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217920" y="1508760"/>
            <a:ext cx="2377440" cy="2286000"/>
          </a:xfrm>
          <a:prstGeom prst="rect">
            <a:avLst/>
          </a:prstGeom>
          <a:solidFill>
            <a:srgbClr val="F5F5F3"/>
          </a:solidFill>
          <a:ln w="12700">
            <a:solidFill>
              <a:srgbClr val="D4D4C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0" y="1600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1792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OPERACIONAL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743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100% digital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063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Automação total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3383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Mais tempo livre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227"/>
                </a:solidFill>
              </a:rPr>
              <a:t>↓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828800" y="4206240"/>
            <a:ext cx="5486400" cy="594360"/>
          </a:xfrm>
          <a:prstGeom prst="rect">
            <a:avLst/>
          </a:prstGeom>
          <a:solidFill>
            <a:srgbClr val="C9A227"/>
          </a:solidFill>
          <a:ln/>
          <a:effectLst>
            <a:outerShdw sx="100000" sy="100000" kx="0" ky="0" algn="bl" rotWithShape="0" blurRad="63500" dist="38100" dir="2700000">
              <a:srgbClr val="745C18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828800" y="42519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 IMOBILIÁRIA MAIS FORTE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828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Portfólio de Soluções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verticais para fortalecer seu negócio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7680960" cy="4572"/>
          </a:xfrm>
          <a:prstGeom prst="rect">
            <a:avLst/>
          </a:prstGeom>
          <a:solidFill>
            <a:srgbClr val="D4D4C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23774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463040"/>
            <a:ext cx="2377440" cy="5486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88720" y="2423160"/>
            <a:ext cx="18288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5603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Incêndio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8803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Fiança Locatícia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3200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Condomínio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35204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Vida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38404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Residencial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4160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Empresarial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6160" y="1463040"/>
            <a:ext cx="23774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66160" y="1463040"/>
            <a:ext cx="2377440" cy="5486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56616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FINANCEIRO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40480" y="2423160"/>
            <a:ext cx="18288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3703320" y="25603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Boletos a R$ 1,90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03320" y="28803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Antecipação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03320" y="3200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Cobrança automática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03320" y="35204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Relatórios completos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1463040"/>
            <a:ext cx="23774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1463040"/>
            <a:ext cx="2377440" cy="5486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1792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CAPACITAÇÃO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92240" y="2423160"/>
            <a:ext cx="18288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25603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Treinamento comercial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28803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Gestão operacional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3200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Metodologia de vistoria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828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Proteção completa com comissões superiores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7680960" cy="4572"/>
          </a:xfrm>
          <a:prstGeom prst="rect">
            <a:avLst/>
          </a:prstGeom>
          <a:solidFill>
            <a:srgbClr val="D4D4C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17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7315200" cy="18288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PRODUTO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BENEFÍCIO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COMISSÃO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Seguro Incêndio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Obrigatório por lei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677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40%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Fiança Locatícia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Elimina fiador/caução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677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25%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Seguro Condomínio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Protege áreas comuns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677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35%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Seguro Residencial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Cobertura completa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677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1440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COMPARATIVO DE COMISSÕES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Tradicional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0" y="3886200"/>
            <a:ext cx="3657600" cy="320040"/>
          </a:xfrm>
          <a:prstGeom prst="rect">
            <a:avLst/>
          </a:prstGeom>
          <a:solidFill>
            <a:srgbClr val="E8E8E4"/>
          </a:solidFill>
          <a:ln/>
        </p:spPr>
      </p:sp>
      <p:sp>
        <p:nvSpPr>
          <p:cNvPr id="13" name="Shape 10"/>
          <p:cNvSpPr/>
          <p:nvPr/>
        </p:nvSpPr>
        <p:spPr>
          <a:xfrm>
            <a:off x="2743200" y="3886200"/>
            <a:ext cx="1463040" cy="320040"/>
          </a:xfrm>
          <a:prstGeom prst="rect">
            <a:avLst/>
          </a:prstGeom>
          <a:solidFill>
            <a:srgbClr val="7A7A72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3886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15-20%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 Capital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0" y="4343400"/>
            <a:ext cx="3657600" cy="320040"/>
          </a:xfrm>
          <a:prstGeom prst="rect">
            <a:avLst/>
          </a:prstGeom>
          <a:solidFill>
            <a:srgbClr val="E8E8E4"/>
          </a:solidFill>
          <a:ln/>
        </p:spPr>
      </p:sp>
      <p:sp>
        <p:nvSpPr>
          <p:cNvPr id="17" name="Shape 14"/>
          <p:cNvSpPr/>
          <p:nvPr/>
        </p:nvSpPr>
        <p:spPr>
          <a:xfrm>
            <a:off x="2743200" y="4343400"/>
            <a:ext cx="2926080" cy="3200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0" y="4343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25-40%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852160" y="4343400"/>
            <a:ext cx="640080" cy="320040"/>
          </a:xfrm>
          <a:prstGeom prst="roundRect">
            <a:avLst/>
          </a:prstGeom>
          <a:solidFill>
            <a:srgbClr val="C9A227"/>
          </a:solidFill>
          <a:ln/>
        </p:spPr>
      </p:sp>
      <p:sp>
        <p:nvSpPr>
          <p:cNvPr id="20" name="Text 17"/>
          <p:cNvSpPr/>
          <p:nvPr/>
        </p:nvSpPr>
        <p:spPr>
          <a:xfrm>
            <a:off x="5852160" y="43434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+2x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828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Financeiro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Boletos 68% mais baratos que o mercado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7680960" cy="4572"/>
          </a:xfrm>
          <a:prstGeom prst="rect">
            <a:avLst/>
          </a:prstGeom>
          <a:solidFill>
            <a:srgbClr val="4A4A4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COMPARATIVO DE PREÇOS POR BOLETO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MERCADO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1965960"/>
            <a:ext cx="4572000" cy="365760"/>
          </a:xfrm>
          <a:prstGeom prst="rect">
            <a:avLst/>
          </a:prstGeom>
          <a:solidFill>
            <a:srgbClr val="4A4A45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R$ 6,00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 CAPITAL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2514600"/>
            <a:ext cx="1444752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R$ 1,90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2468880"/>
            <a:ext cx="2103120" cy="457200"/>
          </a:xfrm>
          <a:prstGeom prst="roundRect">
            <a:avLst/>
          </a:prstGeom>
          <a:solidFill>
            <a:srgbClr val="96772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ECONOMIA: R$ 4,10/boleto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SIMULAÇÃO DE ECONOMIA MENSAL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474720"/>
          <a:ext cx="7315200" cy="109728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BOLETOS/MÊS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ECONOMIA/MÊS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R$ 410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R$ 1.230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R$ 2.050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77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R$ 4.100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ECONOMIA/ANO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8A8A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R$ 4.920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8A8A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R$ 14.760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R$ 24.600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77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8A8A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R$ 49.200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828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Capacitação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Conhecimento que transforma resultados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7680960" cy="4572"/>
          </a:xfrm>
          <a:prstGeom prst="rect">
            <a:avLst/>
          </a:prstGeom>
          <a:solidFill>
            <a:srgbClr val="D4D4C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2377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463040"/>
            <a:ext cx="237744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600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Treinamento Comercial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Técnicas de vendas para equipes imobiliárias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2971800"/>
            <a:ext cx="1463040" cy="9144"/>
          </a:xfrm>
          <a:prstGeom prst="rect">
            <a:avLst/>
          </a:prstGeom>
          <a:solidFill>
            <a:srgbClr val="E5CD8A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Abordagem consultiva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Fechamento de contratos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3840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Gestão de objeções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1463040"/>
            <a:ext cx="2377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66160" y="1463040"/>
            <a:ext cx="237744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1600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65760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Operacional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Processos otimizados para sua imobiliária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0" y="2971800"/>
            <a:ext cx="1463040" cy="9144"/>
          </a:xfrm>
          <a:prstGeom prst="rect">
            <a:avLst/>
          </a:prstGeom>
          <a:solidFill>
            <a:srgbClr val="E5CD8A"/>
          </a:solidFill>
          <a:ln/>
        </p:spPr>
      </p:sp>
      <p:sp>
        <p:nvSpPr>
          <p:cNvPr id="24" name="Text 22"/>
          <p:cNvSpPr/>
          <p:nvPr/>
        </p:nvSpPr>
        <p:spPr>
          <a:xfrm>
            <a:off x="370332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Fluxos automatizados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0332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Indicadores de performance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03320" y="3840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Melhores práticas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463040"/>
            <a:ext cx="2377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463040"/>
            <a:ext cx="237744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600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30936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Metodologia de Vistoria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Padronização profissional de vistorias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0" y="2971800"/>
            <a:ext cx="1463040" cy="9144"/>
          </a:xfrm>
          <a:prstGeom prst="rect">
            <a:avLst/>
          </a:prstGeom>
          <a:solidFill>
            <a:srgbClr val="E5CD8A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Checklist completo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Documentação fotográfica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3840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Relatórios digitais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828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Nosso Diferencial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Parceiro, não fornecedor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7680960" cy="4572"/>
          </a:xfrm>
          <a:prstGeom prst="rect">
            <a:avLst/>
          </a:prstGeom>
          <a:solidFill>
            <a:srgbClr val="D4D4C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3474720" cy="2651760"/>
          </a:xfrm>
          <a:prstGeom prst="rect">
            <a:avLst/>
          </a:prstGeom>
          <a:solidFill>
            <a:srgbClr val="FAFAF8"/>
          </a:solidFill>
          <a:ln w="12700">
            <a:solidFill>
              <a:srgbClr val="D4D4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FORNECEDOR COMUM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0116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Vende e desaparece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3957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Suporte robotizado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77977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Foco em quantidade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316382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Custos ocultos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5478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Contratos amarrados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256032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2651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3474720" cy="2651760"/>
          </a:xfrm>
          <a:prstGeom prst="rect">
            <a:avLst/>
          </a:prstGeom>
          <a:solidFill>
            <a:srgbClr val="0A0A0A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 CAPITAL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0116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Acompanha seu crescimento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3957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Suporte humano dedicado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77977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Foco em qualidade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16382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Transparência total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5478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Liberdade de escolha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4251960"/>
            <a:ext cx="7315200" cy="594360"/>
          </a:xfrm>
          <a:prstGeom prst="rect">
            <a:avLst/>
          </a:prstGeom>
          <a:solidFill>
            <a:srgbClr val="C9A227"/>
          </a:solidFill>
          <a:ln/>
          <a:effectLst>
            <a:outerShdw sx="100000" sy="100000" kx="0" ky="0" algn="bl" rotWithShape="0" blurRad="50800" dist="25400" dir="2700000">
              <a:srgbClr val="745C18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4297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"Não queremos clientes. Queremos parceiros que cresçam conosco."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828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Funciona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 simples em 3 etapas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7680960" cy="4572"/>
          </a:xfrm>
          <a:prstGeom prst="rect">
            <a:avLst/>
          </a:prstGeom>
          <a:solidFill>
            <a:srgbClr val="D4D4C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2103120"/>
            <a:ext cx="5120640" cy="18288"/>
          </a:xfrm>
          <a:prstGeom prst="rect">
            <a:avLst/>
          </a:prstGeom>
          <a:solidFill>
            <a:srgbClr val="E5CD8A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50800" dist="25400" dir="2700000">
              <a:srgbClr val="745C18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37360" y="1920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429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Agendamos uma call para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entender suas necessidades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50800" dist="25400" dir="2700000">
              <a:srgbClr val="745C18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80560" y="1920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65760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3429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Analisamos sua operação 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identificamos oportunidades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50800" dist="25400" dir="2700000">
              <a:srgbClr val="745C18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920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0080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IMPLEMENTAÇÃO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3429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Ativamos as soluções 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acompanhamos os resultados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LINHA DO TEMPO DE RESULTADOS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88720" y="4434840"/>
            <a:ext cx="2194560" cy="502920"/>
          </a:xfrm>
          <a:prstGeom prst="rect">
            <a:avLst/>
          </a:prstGeom>
          <a:solidFill>
            <a:srgbClr val="F5F5F3"/>
          </a:solidFill>
          <a:ln w="12700">
            <a:solidFill>
              <a:srgbClr val="D4D4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44622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MÊS 1: Ativação das soluções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0" y="4434840"/>
            <a:ext cx="2194560" cy="502920"/>
          </a:xfrm>
          <a:prstGeom prst="rect">
            <a:avLst/>
          </a:prstGeom>
          <a:solidFill>
            <a:srgbClr val="F5F5F3"/>
          </a:solidFill>
          <a:ln w="12700">
            <a:solidFill>
              <a:srgbClr val="D4D4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44622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MÊS 2: Primeiras economias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4434840"/>
            <a:ext cx="2194560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44622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MÊS 3: Resultados consolidados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828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Identidade Visual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Nossa marca em detalhes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7680960" cy="4572"/>
          </a:xfrm>
          <a:prstGeom prst="rect">
            <a:avLst/>
          </a:prstGeom>
          <a:solidFill>
            <a:srgbClr val="4A4A4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PALETA DE CORES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1828800"/>
            <a:ext cx="640080" cy="594360"/>
          </a:xfrm>
          <a:prstGeom prst="rect">
            <a:avLst/>
          </a:prstGeom>
          <a:solidFill>
            <a:srgbClr val="0A0A0A"/>
          </a:solidFill>
          <a:ln w="12700">
            <a:solidFill>
              <a:srgbClr val="5C5C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Preto Premium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2121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#0A0A0A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606040"/>
            <a:ext cx="640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91640" y="28986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#FFFFFF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383280"/>
            <a:ext cx="640080" cy="5943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Dourado Premium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91640" y="36758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#C9A227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TIPOGRAFIA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1828800"/>
            <a:ext cx="32004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4A4A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920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 Jakarta Sans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20640" y="2331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Títulos e destaques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2926080"/>
            <a:ext cx="32004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4A4A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017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20640" y="3429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 de texto e informações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069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0" y="4389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206240" y="4389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CAPITAL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828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 de Voz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nos comunicamos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7680960" cy="4572"/>
          </a:xfrm>
          <a:prstGeom prst="rect">
            <a:avLst/>
          </a:prstGeom>
          <a:solidFill>
            <a:srgbClr val="D4D4C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463040"/>
            <a:ext cx="73152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DIRETO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rodeios, vamos ao ponto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"Economize R$ 2.050/mês"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463040"/>
            <a:ext cx="73152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CONCRETO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Números reais, resultados mensuráveis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"40% de comissão em seguros"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01752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017520"/>
            <a:ext cx="73152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 HONESTO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Transparência total, sem letras miúdas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"Sem taxas ocultas, nunca"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C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017520"/>
            <a:ext cx="73152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 PARCEIRO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Lado a lado, crescemos juntos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677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"Seu sucesso é o nosso"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828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Segurança e Compliance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Sua tranquilidade é nossa prioridade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7680960" cy="4572"/>
          </a:xfrm>
          <a:prstGeom prst="rect">
            <a:avLst/>
          </a:prstGeom>
          <a:solidFill>
            <a:srgbClr val="D4D4C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3566160" cy="109728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45920" y="1645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LGPD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Totalmente adequados à Lei Geral de Proteção de Dados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566160" cy="109728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0" y="1645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Infraestrutura em nuvem com 99.9% de uptime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2743200"/>
            <a:ext cx="3566160" cy="109728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063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45920" y="2926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CRIPTOGRAFIA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protegidos com criptografia de ponta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3566160" cy="109728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63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86400" y="2926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POLÍTICAS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Termos claros e transparentes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NOSSAS GARANTIAS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4389120"/>
            <a:ext cx="7315200" cy="502920"/>
          </a:xfrm>
          <a:prstGeom prst="rect">
            <a:avLst/>
          </a:prstGeom>
          <a:solidFill>
            <a:srgbClr val="FBF8F0"/>
          </a:solidFill>
          <a:ln w="12700">
            <a:solidFill>
              <a:srgbClr val="E5CD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434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5C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Sem fidelidade forçada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34640" y="4434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5C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Cancelamento sem burocracia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4434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5C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Suporte humano sempre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92240" y="4434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5C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Preços fixos, sem surpresas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828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Comece a fortalecer sua imobiliária hoje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7680960" cy="4572"/>
          </a:xfrm>
          <a:prstGeom prst="rect">
            <a:avLst/>
          </a:prstGeom>
          <a:solidFill>
            <a:srgbClr val="D4D4C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2148840"/>
            <a:ext cx="5120640" cy="18288"/>
          </a:xfrm>
          <a:prstGeom prst="rect">
            <a:avLst/>
          </a:prstGeom>
          <a:solidFill>
            <a:srgbClr val="E5CD8A"/>
          </a:solidFill>
          <a:ln/>
        </p:spPr>
      </p:sp>
      <p:sp>
        <p:nvSpPr>
          <p:cNvPr id="10" name="Shape 8"/>
          <p:cNvSpPr/>
          <p:nvPr/>
        </p:nvSpPr>
        <p:spPr>
          <a:xfrm>
            <a:off x="1691640" y="1783080"/>
            <a:ext cx="822960" cy="82296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50800" dist="25400" dir="2700000">
              <a:srgbClr val="745C18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1920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Escolha o melhor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horário para conversar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783080"/>
            <a:ext cx="822960" cy="82296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50800" dist="25400" dir="2700000">
              <a:srgbClr val="745C18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34840" y="1920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5760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65760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0" y="3520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 gratuito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sua operação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78040" y="1783080"/>
            <a:ext cx="822960" cy="82296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50800" dist="25400" dir="2700000">
              <a:srgbClr val="745C18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78040" y="1920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0080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DECIDIR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3520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pressão, você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escolhe o que faz sentido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4160520"/>
            <a:ext cx="7315200" cy="7772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FALE CONOSCO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WhatsApp: (XX) XXXXX-XXXX     |     📧 contato@l8capital.com.br     |     🌐 l8capital.com.br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9116568" y="0"/>
            <a:ext cx="27432" cy="514350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4" name="Image 0" descr="C:\Users\David Sansilva\Documents\Servidor Sites\l8capital\public\images\logos\l8-logo_transp_bran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1188720"/>
            <a:ext cx="3657600" cy="137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926080" y="2743200"/>
            <a:ext cx="3291840" cy="137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Sua imobiliária mais forte.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286000" y="3657600"/>
            <a:ext cx="4572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4A4A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contato@l8capital.com.br  |  🌐 l8capital.com.br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L8 Capital. Todos os direitos reservados.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L8 Capital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L8 Capital - Apresentação Institucional</dc:title>
  <dc:subject>Apresentação Institucional - Janeiro 2026</dc:subject>
  <dc:creator>L8 Capital</dc:creator>
  <cp:lastModifiedBy>L8 Capital</cp:lastModifiedBy>
  <cp:revision>2.0</cp:revision>
  <dcterms:created xsi:type="dcterms:W3CDTF">2026-01-20T17:47:30Z</dcterms:created>
  <dcterms:modified xsi:type="dcterms:W3CDTF">2026-01-20T17:47:30Z</dcterms:modified>
</cp:coreProperties>
</file>
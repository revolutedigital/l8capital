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0" y="2651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spc="800" kern="0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 A P I T A 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0" y="3200400"/>
            <a:ext cx="27432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3474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Sua imobiliária mais forte.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4663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Apresentação Institucional • Janeiro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Nossa História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que a L8 existe?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2/17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solidFill>
            <a:srgbClr val="F5F5F3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91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"Em 24 anos no mercado imobiliário, vimos imobiliárias fecharem não por falta de clientes, mas por falta de estrutura."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2560320" cy="1463040"/>
          </a:xfrm>
          <a:prstGeom prst="rect">
            <a:avLst/>
          </a:prstGeom>
          <a:solidFill>
            <a:srgbClr val="F5F5F3"/>
          </a:solidFill>
          <a:ln w="12700">
            <a:solidFill>
              <a:srgbClr val="A8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880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2000-2020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 anos de experiência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mercado imobiliário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9A227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566160" y="2743200"/>
            <a:ext cx="2560320" cy="1463040"/>
          </a:xfrm>
          <a:prstGeom prst="rect">
            <a:avLst/>
          </a:prstGeom>
          <a:solidFill>
            <a:srgbClr val="F5F5F3"/>
          </a:solidFill>
          <a:ln w="12700">
            <a:solidFill>
              <a:srgbClr val="A8A8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880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0" y="32918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Identificamos que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imobiliárias precisavam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mais estrutura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9A227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400800" y="2743200"/>
            <a:ext cx="2560320" cy="14630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880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2022+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92240" y="32918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Nasce a L8 Capital: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fortalecendo imobiliárias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Nosso Propósito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Golden Circle da L8 Capital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3/17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0" y="1554480"/>
            <a:ext cx="2743200" cy="2743200"/>
          </a:xfrm>
          <a:prstGeom prst="ellipse">
            <a:avLst/>
          </a:prstGeom>
          <a:solidFill>
            <a:srgbClr val="F5F5F3"/>
          </a:solidFill>
          <a:ln w="12700">
            <a:solidFill>
              <a:srgbClr val="A8A8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2011680"/>
            <a:ext cx="1828800" cy="1828800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2468880"/>
            <a:ext cx="914400" cy="9144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2788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QUÊ?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828800" y="3474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71600" y="4023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QUÊ?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16459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QUÊ?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Acreditamos que toda imobiliária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merece estrutura de grande empresa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24688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COMO?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tecnologia proprietária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custos ocultos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Parceria real, não fornecimento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34747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QUÊ?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Seguros, financeiro e capacitação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fortalecer sua imobiliária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Quem Somos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Números que comprovam nossa solidez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4/17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651760" cy="2560320"/>
          </a:xfrm>
          <a:prstGeom prst="rect">
            <a:avLst/>
          </a:prstGeom>
          <a:solidFill>
            <a:srgbClr val="1A1A1A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288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experiência no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mercado imobiliário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1645920"/>
            <a:ext cx="2651760" cy="2560320"/>
          </a:xfrm>
          <a:prstGeom prst="rect">
            <a:avLst/>
          </a:prstGeom>
          <a:solidFill>
            <a:srgbClr val="1A1A1A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8288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566160" y="2560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TECNOLOGIA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49040" y="30175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proprietária desenvolvida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internamente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645920"/>
            <a:ext cx="2651760" cy="2560320"/>
          </a:xfrm>
          <a:prstGeom prst="rect">
            <a:avLst/>
          </a:prstGeom>
          <a:solidFill>
            <a:srgbClr val="1A1A1A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8288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R$ 2.050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400800" y="2560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ECONOMIA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30175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média mensal por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imobiliária parceira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Problema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dores que imobiliárias enfrentam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5/17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840480" cy="822960"/>
          </a:xfrm>
          <a:prstGeom prst="rect">
            <a:avLst/>
          </a:prstGeom>
          <a:solidFill>
            <a:srgbClr val="F5F5F3"/>
          </a:solidFill>
          <a:ln w="12700">
            <a:solidFill>
              <a:srgbClr val="A8A8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"Perco tempo demais com operacional"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645920"/>
            <a:ext cx="3840480" cy="822960"/>
          </a:xfrm>
          <a:prstGeom prst="rect">
            <a:avLst/>
          </a:prstGeom>
          <a:solidFill>
            <a:srgbClr val="F5F5F3"/>
          </a:solidFill>
          <a:ln w="12700">
            <a:solidFill>
              <a:srgbClr val="A8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828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"Não consigo me diferenciar da concorrência"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743200"/>
            <a:ext cx="3840480" cy="822960"/>
          </a:xfrm>
          <a:prstGeom prst="rect">
            <a:avLst/>
          </a:prstGeom>
          <a:solidFill>
            <a:srgbClr val="F5F5F3"/>
          </a:solidFill>
          <a:ln w="12700">
            <a:solidFill>
              <a:srgbClr val="A8A8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926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"Meus custos fixos são muito altos"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2743200"/>
            <a:ext cx="3840480" cy="822960"/>
          </a:xfrm>
          <a:prstGeom prst="rect">
            <a:avLst/>
          </a:prstGeom>
          <a:solidFill>
            <a:srgbClr val="F5F5F3"/>
          </a:solidFill>
          <a:ln w="12700">
            <a:solidFill>
              <a:srgbClr val="A8A8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926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"Faltam ferramentas profissionais"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840480"/>
          <a:ext cx="7680960" cy="118872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</a:tblGrid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SINTOMA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CAUSA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IMPACTO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Operacional excessivo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Falta de automação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Menos tempo para vender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Custos elevados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Fornecedores caros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Margem reduzida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Sem diferenciação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Ferramentas genéricas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Perda para concorrência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Proposta de Valor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fortalecemos sua imobiliária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6/17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651760" cy="2286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830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AUMENTAR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Novos produtos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834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Comissões maiores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200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Diversificação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2468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566160" y="1645920"/>
            <a:ext cx="2651760" cy="2286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17830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REDUZIR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2468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Boletos a R$ 1,90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0" y="2834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Sem mensalidades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0" y="3200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Economia real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72200" y="2468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400800" y="1645920"/>
            <a:ext cx="2651760" cy="2286000"/>
          </a:xfrm>
          <a:prstGeom prst="rect">
            <a:avLst/>
          </a:prstGeom>
          <a:solidFill>
            <a:srgbClr val="F5F5F3"/>
          </a:solidFill>
          <a:ln w="12700">
            <a:solidFill>
              <a:srgbClr val="A8A8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7830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OPERACIONAL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75120" y="2468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100% digital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75120" y="2834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Automação total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3200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Mais tempo livre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0" y="41148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2286000" y="4480560"/>
            <a:ext cx="4572000" cy="5486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0" y="4526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IMOBILIÁRIA MAIS FORTE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Portfólio de Soluções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Três verticais para fortalecer seu negócio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7/17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265176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54480"/>
            <a:ext cx="2651760" cy="6400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45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286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Incêndio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6334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Fiança Locatícia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98094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Condomínio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32841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Vida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6758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Residencial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023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Empresarial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66160" y="1554480"/>
            <a:ext cx="265176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66160" y="1554480"/>
            <a:ext cx="2651760" cy="6400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1645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FINANCEIRO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49040" y="2286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Boletos a R$ 1,90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49040" y="26334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Antecipação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49040" y="298094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Cobrança automática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49040" y="332841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Relatórios completos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1554480"/>
            <a:ext cx="265176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1554480"/>
            <a:ext cx="2651760" cy="6400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1645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CAPACITAÇÃO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83680" y="2286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Treinamento comercial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26334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Gestão operacional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0" y="298094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Metodologia de vistoria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Seguros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Proteção completa com comissões superiores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8/17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7680960" cy="18288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PRODUTO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BENEFÍCIO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COMISSÃO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Seguro Incêndio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Obrigatório por lei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2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Fiança Locatícia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Elimina fiador/caução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2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Seguro Condomínio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Protege áreas comuns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2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35%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Seguro Residencial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Cobertura completa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2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A8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COMPARATIVO DE GANHOS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371600" y="4114800"/>
            <a:ext cx="2743200" cy="822960"/>
          </a:xfrm>
          <a:prstGeom prst="rect">
            <a:avLst/>
          </a:prstGeom>
          <a:solidFill>
            <a:srgbClr val="F5F5F3"/>
          </a:solidFill>
          <a:ln w="12700">
            <a:solidFill>
              <a:srgbClr val="A8A8A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71600" y="41605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Tradicional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15-20% comissão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0" y="4297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9A227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5029200" y="4114800"/>
            <a:ext cx="2743200" cy="8229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0" y="41605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 Capital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25-40% comissão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Financeiro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Boletos 68% mais baratos que o mercado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9/17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651760" cy="1371600"/>
          </a:xfrm>
          <a:prstGeom prst="rect">
            <a:avLst/>
          </a:prstGeom>
          <a:solidFill>
            <a:srgbClr val="1A1A1A"/>
          </a:solidFill>
          <a:ln w="12700">
            <a:solidFill>
              <a:srgbClr val="5C5C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MERCADO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R$ 6,00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preço médio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66160" y="1645920"/>
            <a:ext cx="2651760" cy="13716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7373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 CAPITAL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0" y="20116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R$ 1,90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66160" y="2606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nosso preço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1645920"/>
            <a:ext cx="2651760" cy="1371600"/>
          </a:xfrm>
          <a:prstGeom prst="rect">
            <a:avLst/>
          </a:prstGeom>
          <a:solidFill>
            <a:srgbClr val="1A1A1A"/>
          </a:solidFill>
          <a:ln w="12700">
            <a:solidFill>
              <a:srgbClr val="5C5C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7373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ECONOMIA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20116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R$ 4,10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00800" y="2606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boleto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291840"/>
          <a:ext cx="7680960" cy="1371600"/>
        </p:xfrm>
        <a:graphic>
          <a:graphicData uri="http://schemas.openxmlformats.org/drawingml/2006/table">
            <a:tbl>
              <a:tblPr/>
              <a:tblGrid>
                <a:gridCol w="1536192"/>
                <a:gridCol w="1536192"/>
                <a:gridCol w="1536192"/>
                <a:gridCol w="1536192"/>
                <a:gridCol w="153619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BOLETOS/MÊS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ECONOMIA/MÊS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2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R$ 410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2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R$ 1.230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2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R$ 2.050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2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R$ 4.100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ECONOMIA/ANO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R$ 4.920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R$ 14.760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R$ 24.600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R$ 49.200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5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Capacitação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Conhecimento que transforma resultados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10/17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A8A8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54480"/>
            <a:ext cx="2651760" cy="91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783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Treinamento Comercial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Técnicas de vendas para equipes imobiliárias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743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Abordagem consultiva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3108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Fechamento de contratos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3474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Gestão de objeções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66160" y="155448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A8A8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1554480"/>
            <a:ext cx="2651760" cy="91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3703320" y="1783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Gestão Operacional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03320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Processos otimizados para sua imobiliária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03320" y="2743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Fluxos automatizados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03320" y="3108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Indicadores de performance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03320" y="3474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Melhores práticas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0" y="155448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A8A8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1554480"/>
            <a:ext cx="2651760" cy="91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1783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Metodologia de Vistoria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37960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Padronização profissional de vistorias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37960" y="2743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Checklist completo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37960" y="3108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Documentação fotográfica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37960" y="3474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Relatórios digitais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Nosso Diferencial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Parceiro, não fornecedor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11/17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3657600" cy="2560320"/>
          </a:xfrm>
          <a:prstGeom prst="rect">
            <a:avLst/>
          </a:prstGeom>
          <a:solidFill>
            <a:srgbClr val="F5F5F3"/>
          </a:solidFill>
          <a:ln w="12700">
            <a:solidFill>
              <a:srgbClr val="A8A8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FORNECEDOR COMUM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Vende e desaparece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Suporte robotizado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834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Foco em quantidade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200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Custos ocultos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566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Contratos amarrados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554480"/>
            <a:ext cx="3657600" cy="2560320"/>
          </a:xfrm>
          <a:prstGeom prst="rect">
            <a:avLst/>
          </a:prstGeom>
          <a:solidFill>
            <a:srgbClr val="0A0A0A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 CAPITAL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1031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Acompanha seu crescimento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468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Suporte humano dedicado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834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Foco em qualidade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200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Transparência total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566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Liberdade de escolha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371600" y="4297680"/>
            <a:ext cx="6400800" cy="6400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4389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"Não queremos clientes. Queremos parceiros que cresçam conosco."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Funciona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Processo simples em 3 etapas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12/17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0" y="1645920"/>
            <a:ext cx="731520" cy="7315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17830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Agendamos uma call para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entender suas necessidades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965960"/>
            <a:ext cx="54864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1645920"/>
            <a:ext cx="731520" cy="7315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7830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66160" y="2468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DIAGNÓSTICO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28346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Analisamos sua operação 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identificamos oportunidades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965960"/>
            <a:ext cx="54864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0" y="1645920"/>
            <a:ext cx="731520" cy="7315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0" y="17830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2468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IMPLEMENTAÇÃO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28346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Ativamos as soluções 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acompanhamos os resultados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LINHA DO TEMPO DE RESULTADOS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371600" y="4114800"/>
            <a:ext cx="2194560" cy="822960"/>
          </a:xfrm>
          <a:prstGeom prst="rect">
            <a:avLst/>
          </a:prstGeom>
          <a:solidFill>
            <a:srgbClr val="F5F5F3"/>
          </a:solidFill>
          <a:ln w="12700">
            <a:solidFill>
              <a:srgbClr val="A8A8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0" y="4160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MÊS 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71600" y="4480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Ativação das soluções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40480" y="4114800"/>
            <a:ext cx="2194560" cy="822960"/>
          </a:xfrm>
          <a:prstGeom prst="rect">
            <a:avLst/>
          </a:prstGeom>
          <a:solidFill>
            <a:srgbClr val="F5F5F3"/>
          </a:solidFill>
          <a:ln w="12700">
            <a:solidFill>
              <a:srgbClr val="A8A8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0" y="4160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MÊS 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840480" y="4480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Primeiras economias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09360" y="4114800"/>
            <a:ext cx="2194560" cy="8229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4160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MÊS 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4480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Resultados consolidados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Identidade Visual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Nossa marca em detalhes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13/17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CORES DA MARCA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731520" cy="640080"/>
          </a:xfrm>
          <a:prstGeom prst="rect">
            <a:avLst/>
          </a:prstGeom>
          <a:solidFill>
            <a:srgbClr val="0A0A0A"/>
          </a:solidFill>
          <a:ln w="12700">
            <a:solidFill>
              <a:srgbClr val="5C5C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Preto Premium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45920" y="2331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#0A0A0A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834640"/>
            <a:ext cx="731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2834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3154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#FFFFFF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657600"/>
            <a:ext cx="731520" cy="6400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3657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Dourado Premium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45920" y="3977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#C9A227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TIPOGRAFIA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Plus Jakarta Sans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54880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Títulos e destaques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5488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Corpo de texto e informações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37490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1264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CAPITAL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Tom de Voz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nos comunicamos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14/17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A8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54480"/>
            <a:ext cx="91440" cy="13716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645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9659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rodeios, vamos ao ponto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377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"Economize R$ 2.050/mês"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55448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A8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554480"/>
            <a:ext cx="91440" cy="13716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645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CONCRETO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20640" y="19659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Números reais, resultados mensuráveis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0" y="2377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"40% de comissão em seguros"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20040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A8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200400"/>
            <a:ext cx="91440" cy="13716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2918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611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Transparência total, sem letras miúdas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4023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"Sem taxas ocultas, nunca"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320040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A8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3200400"/>
            <a:ext cx="91440" cy="13716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32918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PARCEIRO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20640" y="3611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Lado a lado, crescemos juntos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20640" y="4023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"Seu sucesso é o nosso"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Segurança e Compliance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Sua tranquilidade garantida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15/17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3840480" cy="1097280"/>
          </a:xfrm>
          <a:prstGeom prst="rect">
            <a:avLst/>
          </a:prstGeom>
          <a:solidFill>
            <a:srgbClr val="F5F5F3"/>
          </a:solidFill>
          <a:ln w="12700">
            <a:solidFill>
              <a:srgbClr val="A8A8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91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LGPD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Totalmente adequados à Lei Geral de Proteção de Dados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554480"/>
            <a:ext cx="3840480" cy="1097280"/>
          </a:xfrm>
          <a:prstGeom prst="rect">
            <a:avLst/>
          </a:prstGeom>
          <a:solidFill>
            <a:srgbClr val="F5F5F3"/>
          </a:solidFill>
          <a:ln w="12700">
            <a:solidFill>
              <a:srgbClr val="A8A8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691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SERVIDORES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2057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Infraestrutura em nuvem com 99.9% de uptime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3840480" cy="1097280"/>
          </a:xfrm>
          <a:prstGeom prst="rect">
            <a:avLst/>
          </a:prstGeom>
          <a:solidFill>
            <a:srgbClr val="F5F5F3"/>
          </a:solidFill>
          <a:ln w="12700">
            <a:solidFill>
              <a:srgbClr val="A8A8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63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CRIPTOGRAFIA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429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Dados protegidos com criptografia de ponta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2926080"/>
            <a:ext cx="3840480" cy="1097280"/>
          </a:xfrm>
          <a:prstGeom prst="rect">
            <a:avLst/>
          </a:prstGeom>
          <a:solidFill>
            <a:srgbClr val="F5F5F3"/>
          </a:solidFill>
          <a:ln w="12700">
            <a:solidFill>
              <a:srgbClr val="A8A8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3063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POLÍTICAS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3429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Termos claros e transparentes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114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NOSSAS GARANTIAS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480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Sem fidelidade forçada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34640" y="4480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Cancelamento sem burocracia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4480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Suporte humano sempre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40880" y="4480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Preços fixos, sem surpresas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Próximos Passos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Comece a fortalecer sua imobiliária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16/17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0" y="1554480"/>
            <a:ext cx="822960" cy="8229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16916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Escolha o melhor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horário para conversar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9A227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480560" y="1554480"/>
            <a:ext cx="822960" cy="8229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6916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66160" y="2468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RECEBER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28346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Diagnóstico gratuito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 sua operação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50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9A227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7315200" y="1554480"/>
            <a:ext cx="822960" cy="8229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0" y="16916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00800" y="2468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DECIDIR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28346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pressão, você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escolhe o que faz sentido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657600"/>
            <a:ext cx="7680960" cy="1280160"/>
          </a:xfrm>
          <a:prstGeom prst="rect">
            <a:avLst/>
          </a:prstGeom>
          <a:solidFill>
            <a:srgbClr val="F5F5F3"/>
          </a:solidFill>
          <a:ln w="12700">
            <a:solidFill>
              <a:srgbClr val="A8A8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749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FALE CONOSCO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WhatsApp: (XX) XXXXX-XXXX     |     📧 contato@l8capital.com.br     |     🌐 l8capital.com.br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[QR Code para WhatsApp]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630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0" y="2286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spc="600" kern="0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 A P I T A 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2834640"/>
            <a:ext cx="27432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3017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Sua imobiliária mais forte.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3840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contato@l8capital.com.br  |  l8capital.com.br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4663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© 2026 L8 Capital. Todos os direitos reservados.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L8 Capital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L8 Capital - Apresentação Institucional</dc:title>
  <dc:subject>Apresentação Institucional - Janeiro 2026</dc:subject>
  <dc:creator>L8 Capital</dc:creator>
  <cp:lastModifiedBy>L8 Capital</cp:lastModifiedBy>
  <cp:revision>1</cp:revision>
  <dcterms:created xsi:type="dcterms:W3CDTF">2026-01-20T17:35:03Z</dcterms:created>
  <dcterms:modified xsi:type="dcterms:W3CDTF">2026-01-20T17:35:03Z</dcterms:modified>
</cp:coreProperties>
</file>